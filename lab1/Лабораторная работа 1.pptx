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2" r:id="rId20"/>
    <p:sldId id="273" r:id="rId21"/>
  </p:sldIdLst>
  <p:sldSz cx="12190413" cy="6859588"/>
  <p:notesSz cx="6858000" cy="9144000"/>
  <p:defaultTextStyle>
    <a:defPPr>
      <a:defRPr lang="ru-RU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641" autoAdjust="0"/>
  </p:normalViewPr>
  <p:slideViewPr>
    <p:cSldViewPr>
      <p:cViewPr varScale="1">
        <p:scale>
          <a:sx n="50" d="100"/>
          <a:sy n="50" d="100"/>
        </p:scale>
        <p:origin x="24" y="324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7212638" y="3810883"/>
            <a:ext cx="4977777" cy="9110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7212662" y="3897913"/>
            <a:ext cx="4977753" cy="19206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7212662" y="4116120"/>
            <a:ext cx="4977753" cy="9146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7212661" y="4165367"/>
            <a:ext cx="2620939" cy="18292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7212661" y="4200544"/>
            <a:ext cx="2620939" cy="9146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7212661" y="3963318"/>
            <a:ext cx="4083788" cy="2743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9834063" y="4061924"/>
            <a:ext cx="2133322" cy="3658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50507"/>
            <a:ext cx="12190413" cy="24422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1" y="3676378"/>
            <a:ext cx="12190414" cy="14071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8550955" y="3643933"/>
            <a:ext cx="3639460" cy="24849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12190413" cy="3702557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09521" y="2402444"/>
            <a:ext cx="11276132" cy="1470365"/>
          </a:xfrm>
        </p:spPr>
        <p:txBody>
          <a:bodyPr anchor="b"/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609521" y="3900841"/>
            <a:ext cx="6603140" cy="1753006"/>
          </a:xfrm>
        </p:spPr>
        <p:txBody>
          <a:bodyPr/>
          <a:lstStyle>
            <a:lvl1pPr marL="76195" indent="0" algn="l">
              <a:buNone/>
              <a:defRPr sz="2900">
                <a:solidFill>
                  <a:schemeClr val="tx2"/>
                </a:solidFill>
              </a:defRPr>
            </a:lvl1pPr>
            <a:lvl2pPr marL="544251" indent="0" algn="ctr">
              <a:buNone/>
            </a:lvl2pPr>
            <a:lvl3pPr marL="1088502" indent="0" algn="ctr">
              <a:buNone/>
            </a:lvl3pPr>
            <a:lvl4pPr marL="1632753" indent="0" algn="ctr">
              <a:buNone/>
            </a:lvl4pPr>
            <a:lvl5pPr marL="2177004" indent="0" algn="ctr">
              <a:buNone/>
            </a:lvl5pPr>
            <a:lvl6pPr marL="2721254" indent="0" algn="ctr">
              <a:buNone/>
            </a:lvl6pPr>
            <a:lvl7pPr marL="3265505" indent="0" algn="ctr">
              <a:buNone/>
            </a:lvl7pPr>
            <a:lvl8pPr marL="3809756" indent="0" algn="ctr">
              <a:buNone/>
            </a:lvl8pPr>
            <a:lvl9pPr marL="4354007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8939636" y="4207214"/>
            <a:ext cx="1279993" cy="457306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7212661" y="4206262"/>
            <a:ext cx="1726975" cy="457306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1092006" y="1136"/>
            <a:ext cx="996820" cy="365845"/>
          </a:xfrm>
        </p:spPr>
        <p:txBody>
          <a:bodyPr/>
          <a:lstStyle>
            <a:lvl1pPr algn="r">
              <a:defRPr sz="2100">
                <a:solidFill>
                  <a:schemeClr val="bg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2959" y="1981659"/>
            <a:ext cx="10361851" cy="1362390"/>
          </a:xfrm>
        </p:spPr>
        <p:txBody>
          <a:bodyPr anchor="b">
            <a:noAutofit/>
          </a:bodyPr>
          <a:lstStyle>
            <a:lvl1pPr algn="l">
              <a:buNone/>
              <a:defRPr sz="51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2959" y="3367867"/>
            <a:ext cx="10361851" cy="1510062"/>
          </a:xfrm>
        </p:spPr>
        <p:txBody>
          <a:bodyPr anchor="t"/>
          <a:lstStyle>
            <a:lvl1pPr marL="54425" indent="0">
              <a:buNone/>
              <a:defRPr sz="2500" b="0">
                <a:solidFill>
                  <a:schemeClr val="tx2"/>
                </a:solidFill>
              </a:defRPr>
            </a:lvl1pPr>
            <a:lvl2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521" y="2249945"/>
            <a:ext cx="5384099" cy="4527011"/>
          </a:xfrm>
        </p:spPr>
        <p:txBody>
          <a:bodyPr/>
          <a:lstStyle>
            <a:lvl1pPr>
              <a:defRPr sz="2400"/>
            </a:lvl1pPr>
            <a:lvl2pPr>
              <a:defRPr sz="23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6793" y="2249945"/>
            <a:ext cx="5384099" cy="4527011"/>
          </a:xfrm>
        </p:spPr>
        <p:txBody>
          <a:bodyPr/>
          <a:lstStyle>
            <a:lvl1pPr>
              <a:defRPr sz="2400"/>
            </a:lvl1pPr>
            <a:lvl2pPr>
              <a:defRPr sz="23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7934" y="1143265"/>
            <a:ext cx="11174545" cy="1070096"/>
          </a:xfrm>
        </p:spPr>
        <p:txBody>
          <a:bodyPr anchor="ctr"/>
          <a:lstStyle>
            <a:lvl1pPr>
              <a:defRPr sz="4800" b="0" i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7934" y="2245490"/>
            <a:ext cx="5388163" cy="457306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54425" indent="0">
              <a:buNone/>
              <a:defRPr sz="23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400" b="1"/>
            </a:lvl2pPr>
            <a:lvl3pPr>
              <a:buNone/>
              <a:defRPr sz="2100" b="1"/>
            </a:lvl3pPr>
            <a:lvl4pPr>
              <a:buNone/>
              <a:defRPr sz="1900" b="1"/>
            </a:lvl4pPr>
            <a:lvl5pPr>
              <a:buNone/>
              <a:defRPr sz="19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294148" y="2245490"/>
            <a:ext cx="5388332" cy="457306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54425" indent="0">
              <a:buNone/>
              <a:defRPr sz="23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400" b="1"/>
            </a:lvl2pPr>
            <a:lvl3pPr>
              <a:buNone/>
              <a:defRPr sz="2100" b="1"/>
            </a:lvl3pPr>
            <a:lvl4pPr>
              <a:buNone/>
              <a:defRPr sz="1900" b="1"/>
            </a:lvl4pPr>
            <a:lvl5pPr>
              <a:buNone/>
              <a:defRPr sz="19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507934" y="2709146"/>
            <a:ext cx="5388163" cy="38871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90254" y="2709146"/>
            <a:ext cx="5388332" cy="38871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21" y="1143265"/>
            <a:ext cx="10971372" cy="1070096"/>
          </a:xfrm>
        </p:spPr>
        <p:txBody>
          <a:bodyPr anchor="ctr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8777097" y="612790"/>
            <a:ext cx="1276186" cy="457306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7009487" y="612790"/>
            <a:ext cx="1767610" cy="457306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0898229" y="2272"/>
            <a:ext cx="1015868" cy="36584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37065" y="1102225"/>
            <a:ext cx="4510453" cy="878027"/>
          </a:xfrm>
        </p:spPr>
        <p:txBody>
          <a:bodyPr anchor="b"/>
          <a:lstStyle>
            <a:lvl1pPr algn="l">
              <a:buNone/>
              <a:defRPr sz="21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7137065" y="2011193"/>
            <a:ext cx="4510453" cy="4618789"/>
          </a:xfrm>
        </p:spPr>
        <p:txBody>
          <a:bodyPr/>
          <a:lstStyle>
            <a:lvl1pPr marL="10885" indent="0">
              <a:buNone/>
              <a:defRPr sz="17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203174" y="776467"/>
            <a:ext cx="6802250" cy="5853515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52969" y="1109417"/>
            <a:ext cx="782302" cy="4682721"/>
          </a:xfrm>
        </p:spPr>
        <p:txBody>
          <a:bodyPr vert="vert270" lIns="54425" tIns="0" rIns="54425" anchor="t"/>
          <a:lstStyle>
            <a:lvl1pPr algn="ctr">
              <a:buNone/>
              <a:defRPr sz="24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38158" y="1143265"/>
            <a:ext cx="6095207" cy="4573059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8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16867" y="3275067"/>
            <a:ext cx="3453950" cy="2517072"/>
          </a:xfrm>
        </p:spPr>
        <p:txBody>
          <a:bodyPr lIns="0" tIns="0" rIns="54425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500"/>
            </a:lvl1pPr>
            <a:lvl2pPr>
              <a:buFontTx/>
              <a:buNone/>
              <a:defRPr sz="1400"/>
            </a:lvl2pPr>
            <a:lvl3pPr>
              <a:buFontTx/>
              <a:buNone/>
              <a:defRPr sz="1200"/>
            </a:lvl3pPr>
            <a:lvl4pPr>
              <a:buFontTx/>
              <a:buNone/>
              <a:defRPr sz="1100"/>
            </a:lvl4pPr>
            <a:lvl5pPr>
              <a:buFontTx/>
              <a:buNone/>
              <a:defRPr sz="11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041223" y="1143265"/>
            <a:ext cx="2539669" cy="5487670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520" y="1143265"/>
            <a:ext cx="8330116" cy="548767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903"/>
            <a:ext cx="12190413" cy="8442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12190413" cy="310735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1" y="308348"/>
            <a:ext cx="12190414" cy="9146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7212638" y="360330"/>
            <a:ext cx="4977777" cy="9110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7212662" y="440214"/>
            <a:ext cx="4977753" cy="18007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7208847" y="497619"/>
            <a:ext cx="4083788" cy="2743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9830248" y="589080"/>
            <a:ext cx="2133322" cy="3658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12111711" y="-2001"/>
            <a:ext cx="76825" cy="621936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12057738" y="-2001"/>
            <a:ext cx="36571" cy="621936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12032338" y="-2001"/>
            <a:ext cx="12190" cy="621936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11965673" y="-2001"/>
            <a:ext cx="36571" cy="621936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11886022" y="380"/>
            <a:ext cx="73142" cy="585352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11829760" y="380"/>
            <a:ext cx="12190" cy="585352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0" tIns="54425" rIns="108850" bIns="54425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609521" y="1143265"/>
            <a:ext cx="10971372" cy="1067047"/>
          </a:xfrm>
          <a:prstGeom prst="rect">
            <a:avLst/>
          </a:prstGeom>
        </p:spPr>
        <p:txBody>
          <a:bodyPr vert="horz" lIns="108850" tIns="54425" rIns="108850" bIns="54425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609521" y="2249945"/>
            <a:ext cx="10971372" cy="4326113"/>
          </a:xfrm>
          <a:prstGeom prst="rect">
            <a:avLst/>
          </a:prstGeom>
        </p:spPr>
        <p:txBody>
          <a:bodyPr vert="horz" lIns="108850" tIns="54425" rIns="108850" bIns="54425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8780905" y="612790"/>
            <a:ext cx="1276186" cy="457306"/>
          </a:xfrm>
          <a:prstGeom prst="rect">
            <a:avLst/>
          </a:prstGeom>
        </p:spPr>
        <p:txBody>
          <a:bodyPr vert="horz" lIns="108850" tIns="54425" rIns="108850" bIns="54425"/>
          <a:lstStyle>
            <a:lvl1pPr algn="l" eaLnBrk="1" latinLnBrk="0" hangingPunct="1">
              <a:defRPr kumimoji="0" sz="1000">
                <a:solidFill>
                  <a:schemeClr val="accent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7009487" y="612790"/>
            <a:ext cx="1767610" cy="457306"/>
          </a:xfrm>
          <a:prstGeom prst="rect">
            <a:avLst/>
          </a:prstGeom>
        </p:spPr>
        <p:txBody>
          <a:bodyPr vert="horz" lIns="108850" tIns="54425" rIns="108850" bIns="54425"/>
          <a:lstStyle>
            <a:lvl1pPr algn="r" eaLnBrk="1" latinLnBrk="0" hangingPunct="1">
              <a:defRPr kumimoji="0" sz="10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0898229" y="2272"/>
            <a:ext cx="1015868" cy="365845"/>
          </a:xfrm>
          <a:prstGeom prst="rect">
            <a:avLst/>
          </a:prstGeom>
        </p:spPr>
        <p:txBody>
          <a:bodyPr vert="horz" lIns="108850" tIns="54425" rIns="108850" bIns="54425" anchor="b"/>
          <a:lstStyle>
            <a:lvl1pPr algn="r" eaLnBrk="1" latinLnBrk="0" hangingPunct="1">
              <a:defRPr kumimoji="0" sz="21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35401" indent="-304780" algn="l" rtl="0" eaLnBrk="1" latinLnBrk="0" hangingPunct="1">
        <a:spcBef>
          <a:spcPts val="357"/>
        </a:spcBef>
        <a:buClr>
          <a:schemeClr val="accent3"/>
        </a:buClr>
        <a:buFont typeface="Georgia"/>
        <a:buChar char="•"/>
        <a:defRPr kumimoji="0"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21" indent="-293895" algn="l" rtl="0" eaLnBrk="1" latinLnBrk="0" hangingPunct="1">
        <a:spcBef>
          <a:spcPts val="357"/>
        </a:spcBef>
        <a:buClr>
          <a:schemeClr val="accent2"/>
        </a:buClr>
        <a:buFont typeface="Georgia"/>
        <a:buChar char="▫"/>
        <a:defRPr kumimoji="0" sz="31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099387" indent="-261240" algn="l" rtl="0" eaLnBrk="1" latinLnBrk="0" hangingPunct="1">
        <a:spcBef>
          <a:spcPts val="357"/>
        </a:spcBef>
        <a:buClr>
          <a:schemeClr val="accent1"/>
        </a:buClr>
        <a:buFont typeface="Wingdings 2"/>
        <a:buChar char=""/>
        <a:defRPr kumimoji="0" sz="29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404167" indent="-239470" algn="l" rtl="0" eaLnBrk="1" latinLnBrk="0" hangingPunct="1">
        <a:spcBef>
          <a:spcPts val="357"/>
        </a:spcBef>
        <a:buClr>
          <a:schemeClr val="accent1"/>
        </a:buClr>
        <a:buFont typeface="Wingdings 2"/>
        <a:buChar char=""/>
        <a:defRPr kumimoji="0" sz="2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654523" indent="-217700" algn="l" rtl="0" eaLnBrk="1" latinLnBrk="0" hangingPunct="1">
        <a:spcBef>
          <a:spcPts val="357"/>
        </a:spcBef>
        <a:buClr>
          <a:schemeClr val="accent3"/>
        </a:buClr>
        <a:buFont typeface="Georgia"/>
        <a:buChar char="▫"/>
        <a:defRPr kumimoji="0" sz="24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915763" indent="-217700" algn="l" rtl="0" eaLnBrk="1" latinLnBrk="0" hangingPunct="1">
        <a:spcBef>
          <a:spcPts val="357"/>
        </a:spcBef>
        <a:buClr>
          <a:schemeClr val="accent3"/>
        </a:buClr>
        <a:buFont typeface="Georgia"/>
        <a:buChar char="▫"/>
        <a:defRPr kumimoji="0" sz="21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177004" indent="-217700" algn="l" rtl="0" eaLnBrk="1" latinLnBrk="0" hangingPunct="1">
        <a:spcBef>
          <a:spcPts val="357"/>
        </a:spcBef>
        <a:buClr>
          <a:schemeClr val="accent3"/>
        </a:buClr>
        <a:buFont typeface="Georgia"/>
        <a:buChar char="▫"/>
        <a:defRPr kumimoji="0" sz="19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416474" indent="-217700" algn="l" rtl="0" eaLnBrk="1" latinLnBrk="0" hangingPunct="1">
        <a:spcBef>
          <a:spcPts val="357"/>
        </a:spcBef>
        <a:buClr>
          <a:schemeClr val="accent3"/>
        </a:buClr>
        <a:buFont typeface="Georgia"/>
        <a:buChar char="◦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666829" indent="-217700" algn="l" rtl="0" eaLnBrk="1" latinLnBrk="0" hangingPunct="1">
        <a:spcBef>
          <a:spcPts val="357"/>
        </a:spcBef>
        <a:buClr>
          <a:schemeClr val="accent3"/>
        </a:buClr>
        <a:buFont typeface="Georgia"/>
        <a:buChar char="◦"/>
        <a:defRPr kumimoji="0" sz="17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0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70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5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400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1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>
                <a:cs typeface="Times New Roman" panose="02020603050405020304" pitchFamily="18" charset="0"/>
              </a:rPr>
              <a:t>Цель работы:</a:t>
            </a:r>
            <a:r>
              <a:rPr lang="ru-RU" dirty="0">
                <a:cs typeface="Times New Roman" panose="02020603050405020304" pitchFamily="18" charset="0"/>
              </a:rPr>
              <a:t> Научиться создавать проект в </a:t>
            </a:r>
            <a:r>
              <a:rPr lang="ru-RU" dirty="0" err="1">
                <a:cs typeface="Times New Roman" panose="02020603050405020304" pitchFamily="18" charset="0"/>
              </a:rPr>
              <a:t>Microchip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dirty="0" err="1">
                <a:cs typeface="Times New Roman" panose="02020603050405020304" pitchFamily="18" charset="0"/>
              </a:rPr>
              <a:t>Studio</a:t>
            </a:r>
            <a:r>
              <a:rPr lang="ru-RU" dirty="0">
                <a:cs typeface="Times New Roman" panose="02020603050405020304" pitchFamily="18" charset="0"/>
              </a:rPr>
              <a:t> для микроконтроллера ATmega128A, познакомиться с работой портов ввода-вывода, освоить вывод данных  на семи сегментные индикаторы через D-триггеры с помощью динамической индикации и проверить работу программы в симуляторе </a:t>
            </a:r>
            <a:r>
              <a:rPr lang="ru-RU" dirty="0" err="1">
                <a:cs typeface="Times New Roman" panose="02020603050405020304" pitchFamily="18" charset="0"/>
              </a:rPr>
              <a:t>Proteus</a:t>
            </a:r>
            <a:r>
              <a:rPr lang="ru-RU" dirty="0"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257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5824" y="621482"/>
            <a:ext cx="10971372" cy="1067047"/>
          </a:xfrm>
        </p:spPr>
        <p:txBody>
          <a:bodyPr/>
          <a:lstStyle/>
          <a:p>
            <a:r>
              <a:rPr lang="ru-RU" dirty="0"/>
              <a:t>Микроконтроллер (МК)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0590" y="1917626"/>
            <a:ext cx="5400600" cy="4326113"/>
          </a:xfrm>
        </p:spPr>
        <p:txBody>
          <a:bodyPr>
            <a:normAutofit fontScale="47500" lnSpcReduction="20000"/>
          </a:bodyPr>
          <a:lstStyle/>
          <a:p>
            <a:r>
              <a:rPr lang="ru-RU" sz="3600" b="1" dirty="0">
                <a:cs typeface="Times New Roman" panose="02020603050405020304" pitchFamily="18" charset="0"/>
              </a:rPr>
              <a:t>Микроконтроллер</a:t>
            </a:r>
            <a:r>
              <a:rPr lang="ru-RU" sz="3600" dirty="0">
                <a:cs typeface="Times New Roman" panose="02020603050405020304" pitchFamily="18" charset="0"/>
              </a:rPr>
              <a:t> — это интегральная микросхема, реализующая функции микропроцессорной системы на едином полупроводниковом кристалле. </a:t>
            </a:r>
            <a:br>
              <a:rPr lang="en-US" sz="3600" dirty="0">
                <a:cs typeface="Times New Roman" panose="02020603050405020304" pitchFamily="18" charset="0"/>
              </a:rPr>
            </a:br>
            <a:br>
              <a:rPr lang="en-US" sz="3600" dirty="0">
                <a:cs typeface="Times New Roman" panose="02020603050405020304" pitchFamily="18" charset="0"/>
              </a:rPr>
            </a:br>
            <a:r>
              <a:rPr lang="ru-RU" sz="3600" dirty="0">
                <a:cs typeface="Times New Roman" panose="02020603050405020304" pitchFamily="18" charset="0"/>
              </a:rPr>
              <a:t>В состав МК входят:</a:t>
            </a:r>
            <a:br>
              <a:rPr lang="ru-RU" sz="3600" dirty="0">
                <a:cs typeface="Times New Roman" panose="02020603050405020304" pitchFamily="18" charset="0"/>
              </a:rPr>
            </a:br>
            <a:r>
              <a:rPr lang="ru-RU" sz="3600" b="1" dirty="0">
                <a:cs typeface="Times New Roman" panose="02020603050405020304" pitchFamily="18" charset="0"/>
              </a:rPr>
              <a:t>Центральный процессор</a:t>
            </a:r>
            <a:r>
              <a:rPr lang="ru-RU" sz="3600" dirty="0">
                <a:cs typeface="Times New Roman" panose="02020603050405020304" pitchFamily="18" charset="0"/>
              </a:rPr>
              <a:t> — ядро, выполняющее команды программы;</a:t>
            </a:r>
            <a:br>
              <a:rPr lang="ru-RU" sz="3600" dirty="0">
                <a:cs typeface="Times New Roman" panose="02020603050405020304" pitchFamily="18" charset="0"/>
              </a:rPr>
            </a:br>
            <a:r>
              <a:rPr lang="ru-RU" sz="3600" b="1" dirty="0">
                <a:cs typeface="Times New Roman" panose="02020603050405020304" pitchFamily="18" charset="0"/>
              </a:rPr>
              <a:t>Память программ</a:t>
            </a:r>
            <a:r>
              <a:rPr lang="ru-RU" sz="3600" dirty="0">
                <a:cs typeface="Times New Roman" panose="02020603050405020304" pitchFamily="18" charset="0"/>
              </a:rPr>
              <a:t> (</a:t>
            </a:r>
            <a:r>
              <a:rPr lang="ru-RU" sz="3600" dirty="0" err="1">
                <a:cs typeface="Times New Roman" panose="02020603050405020304" pitchFamily="18" charset="0"/>
              </a:rPr>
              <a:t>Flash</a:t>
            </a:r>
            <a:r>
              <a:rPr lang="ru-RU" sz="3600" dirty="0">
                <a:cs typeface="Times New Roman" panose="02020603050405020304" pitchFamily="18" charset="0"/>
              </a:rPr>
              <a:t>) и </a:t>
            </a:r>
            <a:r>
              <a:rPr lang="ru-RU" sz="3600" b="1" dirty="0">
                <a:cs typeface="Times New Roman" panose="02020603050405020304" pitchFamily="18" charset="0"/>
              </a:rPr>
              <a:t>память данных</a:t>
            </a:r>
            <a:r>
              <a:rPr lang="ru-RU" sz="3600" dirty="0">
                <a:cs typeface="Times New Roman" panose="02020603050405020304" pitchFamily="18" charset="0"/>
              </a:rPr>
              <a:t> (ОЗУ, EEPROM);</a:t>
            </a:r>
            <a:br>
              <a:rPr lang="ru-RU" sz="3600" dirty="0">
                <a:cs typeface="Times New Roman" panose="02020603050405020304" pitchFamily="18" charset="0"/>
              </a:rPr>
            </a:br>
            <a:r>
              <a:rPr lang="ru-RU" sz="3600" b="1" dirty="0">
                <a:cs typeface="Times New Roman" panose="02020603050405020304" pitchFamily="18" charset="0"/>
              </a:rPr>
              <a:t>Периферийные модули</a:t>
            </a:r>
            <a:r>
              <a:rPr lang="ru-RU" sz="3600" dirty="0">
                <a:cs typeface="Times New Roman" panose="02020603050405020304" pitchFamily="18" charset="0"/>
              </a:rPr>
              <a:t> — порты ввода-вывода, таймеры-счётчики, АЦП, последовательные интерфейсы (UART, SPI, TWI).</a:t>
            </a:r>
            <a:br>
              <a:rPr lang="en-US" sz="3600" dirty="0">
                <a:cs typeface="Times New Roman" panose="02020603050405020304" pitchFamily="18" charset="0"/>
              </a:rPr>
            </a:br>
            <a:br>
              <a:rPr lang="ru-RU" sz="3600" dirty="0">
                <a:cs typeface="Times New Roman" panose="02020603050405020304" pitchFamily="18" charset="0"/>
              </a:rPr>
            </a:br>
            <a:r>
              <a:rPr lang="ru-RU" sz="3600" dirty="0">
                <a:cs typeface="Times New Roman" panose="02020603050405020304" pitchFamily="18" charset="0"/>
              </a:rPr>
              <a:t>Таким образом, МК представляет собой законченную вычислительную систему, способную функционировать без дополнительных внешних компонентов.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214" y="1824632"/>
            <a:ext cx="5469982" cy="443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85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590" y="621482"/>
            <a:ext cx="10971372" cy="1067047"/>
          </a:xfrm>
        </p:spPr>
        <p:txBody>
          <a:bodyPr>
            <a:normAutofit/>
          </a:bodyPr>
          <a:lstStyle/>
          <a:p>
            <a:r>
              <a:rPr lang="ru-RU" b="1" dirty="0"/>
              <a:t>Регистры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0590" y="1917626"/>
            <a:ext cx="9721080" cy="432611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b="1" dirty="0"/>
              <a:t>Регистр</a:t>
            </a:r>
            <a:r>
              <a:rPr lang="ru-RU" dirty="0"/>
              <a:t> — это адресуемая ячейка памяти внутри МК, содержимое которой непосредственно определяет состояние или режим работы аппаратного модуля.</a:t>
            </a:r>
          </a:p>
          <a:p>
            <a:pPr algn="just"/>
            <a:r>
              <a:rPr lang="ru-RU" dirty="0"/>
              <a:t>Управление периферией МК осуществляется путём записи или чтения определённых битов регистров. Каждый бит регистра связан с конкретным физическим выводом или внутренним узлом.</a:t>
            </a:r>
          </a:p>
          <a:p>
            <a:endParaRPr lang="en-US" dirty="0"/>
          </a:p>
          <a:p>
            <a:r>
              <a:rPr lang="en-US" b="1" dirty="0"/>
              <a:t>DDRA = </a:t>
            </a:r>
            <a:r>
              <a:rPr lang="ru-RU" b="1" dirty="0"/>
              <a:t>0</a:t>
            </a:r>
            <a:r>
              <a:rPr lang="en-US" b="1" dirty="0" err="1"/>
              <a:t>xFF</a:t>
            </a:r>
            <a:r>
              <a:rPr lang="en-US" b="1" dirty="0"/>
              <a:t>; </a:t>
            </a:r>
          </a:p>
          <a:p>
            <a:r>
              <a:rPr lang="en-US" b="1" dirty="0"/>
              <a:t>PORTF = 0x00;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650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cs typeface="Times New Roman" panose="02020603050405020304" pitchFamily="18" charset="0"/>
              </a:rPr>
              <a:t>Интерфейс ввода-вывода общего назначения (</a:t>
            </a:r>
            <a:r>
              <a:rPr lang="en-US" b="1" dirty="0">
                <a:cs typeface="Times New Roman" panose="02020603050405020304" pitchFamily="18" charset="0"/>
              </a:rPr>
              <a:t>GPIO</a:t>
            </a:r>
            <a:r>
              <a:rPr lang="ru-RU" b="1" dirty="0"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21" y="2249945"/>
            <a:ext cx="4693597" cy="4326113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sz="3600" b="1" dirty="0">
                <a:cs typeface="Times New Roman" panose="02020603050405020304" pitchFamily="18" charset="0"/>
              </a:rPr>
              <a:t>GPIO</a:t>
            </a:r>
            <a:r>
              <a:rPr lang="ru-RU" sz="3600" dirty="0">
                <a:cs typeface="Times New Roman" panose="02020603050405020304" pitchFamily="18" charset="0"/>
              </a:rPr>
              <a:t> — это совокупность программируемых выводов микроконтроллера, каждый из которых может быть независимо сконфигурирован либо на приём входного сигнала, либо на формирование выходного сигнала</a:t>
            </a:r>
            <a:r>
              <a:rPr lang="en-US" sz="3600" dirty="0">
                <a:cs typeface="Times New Roman" panose="02020603050405020304" pitchFamily="18" charset="0"/>
              </a:rPr>
              <a:t>, </a:t>
            </a:r>
            <a:r>
              <a:rPr lang="ru-RU" sz="3600" dirty="0">
                <a:cs typeface="Times New Roman" panose="02020603050405020304" pitchFamily="18" charset="0"/>
              </a:rPr>
              <a:t>а также на выполнение альтернативной функции.</a:t>
            </a:r>
            <a:endParaRPr lang="en-US" sz="3600" dirty="0">
              <a:cs typeface="Times New Roman" panose="02020603050405020304" pitchFamily="18" charset="0"/>
            </a:endParaRPr>
          </a:p>
          <a:p>
            <a:pPr algn="just"/>
            <a:r>
              <a:rPr lang="ru-RU" sz="3600" dirty="0">
                <a:cs typeface="Times New Roman" panose="02020603050405020304" pitchFamily="18" charset="0"/>
              </a:rPr>
              <a:t>Каждый вывод </a:t>
            </a:r>
            <a:r>
              <a:rPr lang="en-US" sz="3600" dirty="0">
                <a:cs typeface="Times New Roman" panose="02020603050405020304" pitchFamily="18" charset="0"/>
              </a:rPr>
              <a:t>GPIO</a:t>
            </a:r>
            <a:r>
              <a:rPr lang="ru-RU" sz="3600" dirty="0">
                <a:cs typeface="Times New Roman" panose="02020603050405020304" pitchFamily="18" charset="0"/>
              </a:rPr>
              <a:t> способен обеспечить выходной ток до 20 мА.</a:t>
            </a:r>
            <a:endParaRPr lang="en-US" sz="3600" dirty="0"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8" name="Объект 4">
            <a:extLst>
              <a:ext uri="{FF2B5EF4-FFF2-40B4-BE49-F238E27FC236}">
                <a16:creationId xmlns:a16="http://schemas.microsoft.com/office/drawing/2014/main" id="{CE994EC8-235F-31E0-C91D-1A6E50B817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6965202"/>
              </p:ext>
            </p:extLst>
          </p:nvPr>
        </p:nvGraphicFramePr>
        <p:xfrm>
          <a:off x="6095206" y="1341562"/>
          <a:ext cx="5964340" cy="5138722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651970">
                  <a:extLst>
                    <a:ext uri="{9D8B030D-6E8A-4147-A177-3AD203B41FA5}">
                      <a16:colId xmlns:a16="http://schemas.microsoft.com/office/drawing/2014/main" val="1760395164"/>
                    </a:ext>
                  </a:extLst>
                </a:gridCol>
                <a:gridCol w="1007706">
                  <a:extLst>
                    <a:ext uri="{9D8B030D-6E8A-4147-A177-3AD203B41FA5}">
                      <a16:colId xmlns:a16="http://schemas.microsoft.com/office/drawing/2014/main" val="198519718"/>
                    </a:ext>
                  </a:extLst>
                </a:gridCol>
                <a:gridCol w="1209246">
                  <a:extLst>
                    <a:ext uri="{9D8B030D-6E8A-4147-A177-3AD203B41FA5}">
                      <a16:colId xmlns:a16="http://schemas.microsoft.com/office/drawing/2014/main" val="927484131"/>
                    </a:ext>
                  </a:extLst>
                </a:gridCol>
                <a:gridCol w="3095418">
                  <a:extLst>
                    <a:ext uri="{9D8B030D-6E8A-4147-A177-3AD203B41FA5}">
                      <a16:colId xmlns:a16="http://schemas.microsoft.com/office/drawing/2014/main" val="879587014"/>
                    </a:ext>
                  </a:extLst>
                </a:gridCol>
              </a:tblGrid>
              <a:tr h="492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Порт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Названия выводов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Номер вывода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Альтернативная функция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2826008043"/>
                  </a:ext>
                </a:extLst>
              </a:tr>
              <a:tr h="8924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Port A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PA</a:t>
                      </a:r>
                      <a:r>
                        <a:rPr lang="ru-RU" sz="1100" dirty="0">
                          <a:effectLst/>
                        </a:rPr>
                        <a:t>7</a:t>
                      </a:r>
                      <a:r>
                        <a:rPr lang="en-US" sz="1100" dirty="0">
                          <a:effectLst/>
                        </a:rPr>
                        <a:t>-PA</a:t>
                      </a:r>
                      <a:r>
                        <a:rPr lang="ru-RU" sz="11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44-51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При  наличии внешней памяти данных используется для организации мультиплексируемой шины адреса/данных 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1945463331"/>
                  </a:ext>
                </a:extLst>
              </a:tr>
              <a:tr h="7383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Port B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PB7-PB0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10-17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Применяется при использовании специальных функций (Таймер/счётчик и </a:t>
                      </a:r>
                      <a:r>
                        <a:rPr lang="en-US" sz="1100">
                          <a:effectLst/>
                        </a:rPr>
                        <a:t>SPI</a:t>
                      </a:r>
                      <a:r>
                        <a:rPr lang="ru-RU" sz="11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3701968972"/>
                  </a:ext>
                </a:extLst>
              </a:tr>
              <a:tr h="7383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Port C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PC7-PC0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35-42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При  наличии внешней памяти данных используется для организации шины адреса.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870380734"/>
                  </a:ext>
                </a:extLst>
              </a:tr>
              <a:tr h="8924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Port D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PD7-PD0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25-32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Применяется при использовании специальных функций (</a:t>
                      </a:r>
                      <a:r>
                        <a:rPr lang="en-US" sz="1100" dirty="0">
                          <a:effectLst/>
                        </a:rPr>
                        <a:t>TWI</a:t>
                      </a:r>
                      <a:r>
                        <a:rPr lang="ru-RU" sz="1100" dirty="0">
                          <a:effectLst/>
                        </a:rPr>
                        <a:t>,Таймер/счётчик, прерывания, </a:t>
                      </a:r>
                      <a:r>
                        <a:rPr lang="en-US" sz="1100" dirty="0">
                          <a:effectLst/>
                        </a:rPr>
                        <a:t>UART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4051148210"/>
                  </a:ext>
                </a:extLst>
              </a:tr>
              <a:tr h="8924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Port 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PE7-PE0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2-9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Применяется при использовании специальных функций (Таймер/счётчик, прерывания, </a:t>
                      </a:r>
                      <a:r>
                        <a:rPr lang="en-US" sz="1100" dirty="0">
                          <a:effectLst/>
                        </a:rPr>
                        <a:t>UART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769323674"/>
                  </a:ext>
                </a:extLst>
              </a:tr>
              <a:tr h="492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Port F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PF7-PF0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54-61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При включенном АЦП, его порты используются как аналоговые входы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797" marR="51797" marT="0" marB="0"/>
                </a:tc>
                <a:extLst>
                  <a:ext uri="{0D108BD9-81ED-4DB2-BD59-A6C34878D82A}">
                    <a16:rowId xmlns:a16="http://schemas.microsoft.com/office/drawing/2014/main" val="237492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74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Регистры управления </a:t>
            </a:r>
            <a:r>
              <a:rPr lang="en-US" dirty="0"/>
              <a:t>GPIO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038467"/>
              </p:ext>
            </p:extLst>
          </p:nvPr>
        </p:nvGraphicFramePr>
        <p:xfrm>
          <a:off x="4871071" y="1845618"/>
          <a:ext cx="7056783" cy="439248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85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5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1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859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 dirty="0" err="1">
                          <a:effectLst/>
                        </a:rPr>
                        <a:t>DDRx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 dirty="0" err="1">
                          <a:effectLst/>
                        </a:rPr>
                        <a:t>PORTx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>
                          <a:effectLst/>
                        </a:rPr>
                        <a:t>PINx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Ввод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ru-RU" sz="1400">
                          <a:effectLst/>
                        </a:rPr>
                        <a:t>вывод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Подтягивающий регистр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Комментарий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3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0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 dirty="0">
                          <a:effectLst/>
                        </a:rPr>
                        <a:t>0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 dirty="0">
                          <a:effectLst/>
                        </a:rPr>
                        <a:t>X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Ввод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>
                          <a:effectLst/>
                        </a:rPr>
                        <a:t>Z-</a:t>
                      </a:r>
                      <a:r>
                        <a:rPr lang="ru-RU" sz="1400">
                          <a:effectLst/>
                        </a:rPr>
                        <a:t>состояние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0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 dirty="0">
                          <a:effectLst/>
                        </a:rPr>
                        <a:t>Ввод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 dirty="0">
                          <a:effectLst/>
                        </a:rPr>
                        <a:t>Да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Источник тока при подаче внешнего низкого логического уровня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3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0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Ввод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>
                          <a:effectLst/>
                        </a:rPr>
                        <a:t>Z-</a:t>
                      </a:r>
                      <a:r>
                        <a:rPr lang="ru-RU" sz="1400">
                          <a:effectLst/>
                        </a:rPr>
                        <a:t>состояние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3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0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Вывод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Вывод 0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3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Вывод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</a:pPr>
                      <a:r>
                        <a:rPr lang="ru-RU" sz="1400" dirty="0">
                          <a:effectLst/>
                        </a:rPr>
                        <a:t>Вывод 1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0590" y="2061642"/>
            <a:ext cx="36724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800"/>
              <a:t>DDRx</a:t>
            </a:r>
            <a:r>
              <a:rPr lang="en-US" sz="1800" dirty="0"/>
              <a:t> – </a:t>
            </a:r>
            <a:r>
              <a:rPr lang="ru-RU" sz="1800" dirty="0"/>
              <a:t>регистр направления данных (задает, выводит </a:t>
            </a:r>
            <a:r>
              <a:rPr lang="ru-RU" sz="1800" dirty="0" err="1"/>
              <a:t>пин</a:t>
            </a:r>
            <a:r>
              <a:rPr lang="ru-RU" sz="1800" dirty="0"/>
              <a:t> данные или принимает)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 err="1"/>
              <a:t>PORTx</a:t>
            </a:r>
            <a:r>
              <a:rPr lang="en-US" sz="1800" dirty="0"/>
              <a:t> – </a:t>
            </a:r>
            <a:r>
              <a:rPr lang="ru-RU" sz="1800" dirty="0"/>
              <a:t>регистр данных порта (задает значение выводящего </a:t>
            </a:r>
            <a:r>
              <a:rPr lang="ru-RU" sz="1800" dirty="0" err="1"/>
              <a:t>пина</a:t>
            </a:r>
            <a:r>
              <a:rPr lang="ru-RU" sz="1800" dirty="0"/>
              <a:t> или включает подтяжку)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 err="1"/>
              <a:t>PINx</a:t>
            </a:r>
            <a:r>
              <a:rPr lang="en-US" sz="1800" dirty="0"/>
              <a:t> </a:t>
            </a:r>
            <a:r>
              <a:rPr lang="ru-RU" sz="1800" dirty="0"/>
              <a:t>– регистр входных выводов (информация о логическом значении на </a:t>
            </a:r>
            <a:r>
              <a:rPr lang="ru-RU" sz="1800" dirty="0" err="1"/>
              <a:t>пине</a:t>
            </a:r>
            <a:r>
              <a:rPr lang="ru-RU" sz="1800" dirty="0"/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x = A, B, C, D, E –</a:t>
            </a:r>
            <a:r>
              <a:rPr lang="ru-RU" dirty="0"/>
              <a:t> обозначения портов</a:t>
            </a:r>
          </a:p>
        </p:txBody>
      </p:sp>
    </p:spTree>
    <p:extLst>
      <p:ext uri="{BB962C8B-B14F-4D97-AF65-F5344CB8AC3E}">
        <p14:creationId xmlns:p14="http://schemas.microsoft.com/office/powerpoint/2010/main" val="97533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590" y="621482"/>
            <a:ext cx="10971372" cy="1067047"/>
          </a:xfrm>
        </p:spPr>
        <p:txBody>
          <a:bodyPr/>
          <a:lstStyle/>
          <a:p>
            <a:r>
              <a:rPr lang="ru-RU" dirty="0"/>
              <a:t>Создание проекта в </a:t>
            </a:r>
            <a:r>
              <a:rPr lang="en-US" dirty="0"/>
              <a:t>Microchip Studio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83238" y="1485578"/>
            <a:ext cx="5184576" cy="2304256"/>
          </a:xfrm>
        </p:spPr>
        <p:txBody>
          <a:bodyPr>
            <a:normAutofit lnSpcReduction="10000"/>
          </a:bodyPr>
          <a:lstStyle/>
          <a:p>
            <a:pPr marL="873571" indent="-742950">
              <a:buFont typeface="+mj-lt"/>
              <a:buAutoNum type="arabicPeriod"/>
            </a:pPr>
            <a:r>
              <a:rPr lang="en-US" sz="3600" dirty="0"/>
              <a:t>File</a:t>
            </a:r>
            <a:r>
              <a:rPr lang="ru-RU" sz="3600" dirty="0"/>
              <a:t>-&gt;</a:t>
            </a:r>
            <a:r>
              <a:rPr lang="en-US" sz="3600" dirty="0"/>
              <a:t>New</a:t>
            </a:r>
            <a:r>
              <a:rPr lang="ru-RU" sz="3600" dirty="0"/>
              <a:t>-&gt;</a:t>
            </a:r>
            <a:r>
              <a:rPr lang="en-US" sz="3600" dirty="0"/>
              <a:t>Project</a:t>
            </a:r>
          </a:p>
          <a:p>
            <a:pPr marL="873571" indent="-742950">
              <a:buFont typeface="+mj-lt"/>
              <a:buAutoNum type="arabicPeriod"/>
            </a:pPr>
            <a:r>
              <a:rPr lang="en-US" sz="3600" dirty="0"/>
              <a:t>AVR XC8 Application project</a:t>
            </a:r>
            <a:endParaRPr lang="ru-RU" dirty="0"/>
          </a:p>
          <a:p>
            <a:pPr marL="873571" indent="-742950">
              <a:buFont typeface="+mj-lt"/>
              <a:buAutoNum type="arabicPeriod"/>
            </a:pPr>
            <a:r>
              <a:rPr lang="ru-RU" sz="3600" dirty="0"/>
              <a:t>МК </a:t>
            </a:r>
            <a:r>
              <a:rPr lang="en-US" sz="3600" dirty="0"/>
              <a:t>Atmega128A</a:t>
            </a:r>
          </a:p>
        </p:txBody>
      </p:sp>
      <p:pic>
        <p:nvPicPr>
          <p:cNvPr id="2050" name="Picture 2" descr="C:\Users\Ёгурт\Downloads\photo_1_2026-10-05_23-25-5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57" y="1629594"/>
            <a:ext cx="4456726" cy="207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Ёгурт\Downloads\photo_2_2026-10-05_23-25-5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57" y="3861842"/>
            <a:ext cx="4456726" cy="283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Ёгурт\Downloads\photo_3_2026-10-05_23-25-59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206" y="3861842"/>
            <a:ext cx="4657220" cy="283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68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93490"/>
            <a:ext cx="10971372" cy="1067047"/>
          </a:xfrm>
        </p:spPr>
        <p:txBody>
          <a:bodyPr/>
          <a:lstStyle/>
          <a:p>
            <a:r>
              <a:rPr lang="en-US" dirty="0" err="1"/>
              <a:t>main.c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75126" y="1917626"/>
            <a:ext cx="6205767" cy="4326113"/>
          </a:xfrm>
        </p:spPr>
        <p:txBody>
          <a:bodyPr/>
          <a:lstStyle/>
          <a:p>
            <a:r>
              <a:rPr lang="en-US" dirty="0" err="1"/>
              <a:t>xc.h</a:t>
            </a:r>
            <a:r>
              <a:rPr lang="en-US" dirty="0"/>
              <a:t> – </a:t>
            </a:r>
            <a:r>
              <a:rPr lang="ru-RU" dirty="0"/>
              <a:t>заголовочный файл, в нем директивами препроцессора определены регистры МК</a:t>
            </a:r>
          </a:p>
          <a:p>
            <a:r>
              <a:rPr lang="en-US" dirty="0"/>
              <a:t>main() – </a:t>
            </a:r>
            <a:r>
              <a:rPr lang="ru-RU" dirty="0"/>
              <a:t>главная функция программы</a:t>
            </a:r>
          </a:p>
          <a:p>
            <a:r>
              <a:rPr lang="en-US" dirty="0"/>
              <a:t>while(1) – </a:t>
            </a:r>
            <a:r>
              <a:rPr lang="ru-RU" dirty="0"/>
              <a:t>главный цикл программы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39" y="2421682"/>
            <a:ext cx="5354434" cy="3736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27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93490"/>
            <a:ext cx="10971372" cy="106704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принципы программирования микроконтроллеров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598" y="1989634"/>
            <a:ext cx="10971372" cy="432611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1. Запись в регистр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REG_NAME = value;</a:t>
            </a:r>
          </a:p>
          <a:p>
            <a:r>
              <a:rPr lang="en-US" dirty="0"/>
              <a:t>2. </a:t>
            </a:r>
            <a:r>
              <a:rPr lang="ru-RU" dirty="0"/>
              <a:t>Чтение из регистра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value = REG_NAME;</a:t>
            </a:r>
          </a:p>
          <a:p>
            <a:r>
              <a:rPr lang="ru-RU" dirty="0"/>
              <a:t>3. Использование побитовых операций</a:t>
            </a:r>
            <a:r>
              <a:rPr lang="en-US" dirty="0"/>
              <a:t> (</a:t>
            </a:r>
            <a:r>
              <a:rPr lang="ru-RU" dirty="0"/>
              <a:t>не путать с </a:t>
            </a:r>
            <a:br>
              <a:rPr lang="en-US" dirty="0"/>
            </a:br>
            <a:r>
              <a:rPr lang="en-US" dirty="0"/>
              <a:t>	</a:t>
            </a:r>
            <a:r>
              <a:rPr lang="ru-RU" dirty="0"/>
              <a:t>логическими</a:t>
            </a:r>
            <a:r>
              <a:rPr lang="en-US" dirty="0"/>
              <a:t> &amp;&amp;, ||, !)</a:t>
            </a:r>
            <a:endParaRPr lang="ru-RU" dirty="0"/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and_val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x &amp; y;</a:t>
            </a:r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or_val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x | y;</a:t>
            </a:r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xor_val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x ^ y;</a:t>
            </a:r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shift_left_val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x &lt;&lt; y;</a:t>
            </a:r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shift_right_val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x &gt;&gt; y;</a:t>
            </a:r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not_val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~x</a:t>
            </a:r>
          </a:p>
        </p:txBody>
      </p:sp>
    </p:spTree>
    <p:extLst>
      <p:ext uri="{BB962C8B-B14F-4D97-AF65-F5344CB8AC3E}">
        <p14:creationId xmlns:p14="http://schemas.microsoft.com/office/powerpoint/2010/main" val="2205927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93490"/>
            <a:ext cx="10971372" cy="106704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принципы программирования микроконтроллеров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598" y="1989634"/>
            <a:ext cx="10971372" cy="4326113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4. Использование переменных нужной разрядности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uint8_t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ddr_val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=0x02;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DDR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ddr_val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ru-RU" dirty="0"/>
              <a:t>5. Использование масок для проверки/задания значения определенного бита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uint8_t pin1_val = (PINA &amp; (1&lt;&lt;1))&gt;&gt;1; //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чтение значения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пина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!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DDRA = DDRA &amp; ~(1&lt;&lt;1); //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установка направления первого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пина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в 0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DDRA = DDRA | (1 &lt;&lt;1); //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установка направления первого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пина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в 1</a:t>
            </a:r>
          </a:p>
        </p:txBody>
      </p:sp>
    </p:spTree>
    <p:extLst>
      <p:ext uri="{BB962C8B-B14F-4D97-AF65-F5344CB8AC3E}">
        <p14:creationId xmlns:p14="http://schemas.microsoft.com/office/powerpoint/2010/main" val="354812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93490"/>
            <a:ext cx="10971372" cy="106704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принципы программирования микроконтроллеров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598" y="1989634"/>
            <a:ext cx="10971372" cy="432611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6. Использование макросов, чтобы облегчить жизнь себе и проверяющему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#define SET_BIT(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var,bit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(1 &lt;&lt; bit)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#define DROP_BIT(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var,bit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&amp; ~(1&lt;&lt;bit)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SET_BIT(DDRA,1);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DROP_BIT(DDRA,1);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ВАЖНО!! Макрос просто подставляется в ваш код в место вызова на этапе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препроцессинга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! Неправильное использование макроса может вызвать ошибки компиляции.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Подумайте, какие еще макросы вы можете использовать для облегчения работы с битовыми полями.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268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93490"/>
            <a:ext cx="10971372" cy="106704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принципы программирования микроконтроллеров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598" y="1989634"/>
            <a:ext cx="10971372" cy="432611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7. Использование функций.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uint8_t sum(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8_t a, uint8_t b) {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return a + b;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Деление кода по функциям упрощает отладку, читаемость и масштабируемость кода. Важно выбирать функциям и переменным понятные имена.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Подумайте, в чем преимущество функций перед макросами и наоборот.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20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Тестовый стенд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8005" y="1679789"/>
            <a:ext cx="4936527" cy="4630325"/>
          </a:xfrm>
        </p:spPr>
        <p:txBody>
          <a:bodyPr/>
          <a:lstStyle/>
          <a:p>
            <a:r>
              <a:rPr lang="ru-RU" dirty="0"/>
              <a:t>Порты </a:t>
            </a:r>
            <a:r>
              <a:rPr lang="en-US" dirty="0"/>
              <a:t>A, F, C</a:t>
            </a:r>
            <a:endParaRPr lang="ru-RU" dirty="0"/>
          </a:p>
          <a:p>
            <a:r>
              <a:rPr lang="ru-RU" dirty="0"/>
              <a:t>8 параллельно подключенных 7-сегментных индикаторов</a:t>
            </a:r>
          </a:p>
          <a:p>
            <a:r>
              <a:rPr lang="ru-RU" dirty="0"/>
              <a:t>2 микросхемы 74</a:t>
            </a:r>
            <a:r>
              <a:rPr lang="en-US" dirty="0"/>
              <a:t>HC573 – </a:t>
            </a:r>
            <a:r>
              <a:rPr lang="ru-RU" dirty="0"/>
              <a:t>защелки 8-разрадные</a:t>
            </a:r>
            <a:endParaRPr lang="en-US" dirty="0"/>
          </a:p>
        </p:txBody>
      </p:sp>
      <p:pic>
        <p:nvPicPr>
          <p:cNvPr id="6146" name="Picture 2" descr="Пла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32" y="1023060"/>
            <a:ext cx="5790059" cy="5836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10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765498"/>
            <a:ext cx="10971372" cy="1067047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 данных с помощью семи сегментных индикаторов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550" y="2229030"/>
            <a:ext cx="6264696" cy="460851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 параллельном включении вы можете одновременно вывести только один символ на все индикаторы</a:t>
            </a:r>
          </a:p>
          <a:p>
            <a:r>
              <a:rPr lang="ru-RU" dirty="0"/>
              <a:t>Для того, чтобы пользователь увидел 8 разрядное число, последовательно включайте индикаторы по одному и выводите соответствующий разряд</a:t>
            </a:r>
          </a:p>
          <a:p>
            <a:r>
              <a:rPr lang="ru-RU" dirty="0"/>
              <a:t>При достаточной скорости  у пользователя сложится иллюзия статичного изображения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8754" y="1813314"/>
            <a:ext cx="1584176" cy="2971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DD44DC-6911-92EE-2A1C-F674DBA1E7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87884" y="4869954"/>
            <a:ext cx="4665915" cy="1670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0387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Микросхема 74</a:t>
            </a:r>
            <a:r>
              <a:rPr lang="en-US" dirty="0"/>
              <a:t>HC573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21" y="3861841"/>
            <a:ext cx="10526245" cy="2714217"/>
          </a:xfrm>
        </p:spPr>
        <p:txBody>
          <a:bodyPr>
            <a:normAutofit fontScale="92500"/>
          </a:bodyPr>
          <a:lstStyle/>
          <a:p>
            <a:r>
              <a:rPr lang="ru-RU" dirty="0" err="1"/>
              <a:t>Пины</a:t>
            </a:r>
            <a:r>
              <a:rPr lang="ru-RU" dirty="0"/>
              <a:t> </a:t>
            </a:r>
            <a:r>
              <a:rPr lang="en-US" dirty="0"/>
              <a:t>D – </a:t>
            </a:r>
            <a:r>
              <a:rPr lang="ru-RU" dirty="0"/>
              <a:t>входные</a:t>
            </a:r>
          </a:p>
          <a:p>
            <a:r>
              <a:rPr lang="ru-RU" dirty="0" err="1"/>
              <a:t>Пины</a:t>
            </a:r>
            <a:r>
              <a:rPr lang="ru-RU" dirty="0"/>
              <a:t> </a:t>
            </a:r>
            <a:r>
              <a:rPr lang="en-US" dirty="0"/>
              <a:t>Q – </a:t>
            </a:r>
            <a:r>
              <a:rPr lang="ru-RU" dirty="0"/>
              <a:t>выходные</a:t>
            </a:r>
          </a:p>
          <a:p>
            <a:r>
              <a:rPr lang="ru-RU" dirty="0"/>
              <a:t>При </a:t>
            </a:r>
            <a:r>
              <a:rPr lang="en-US" dirty="0"/>
              <a:t>LE = 1</a:t>
            </a:r>
            <a:r>
              <a:rPr lang="ru-RU" dirty="0"/>
              <a:t> значение </a:t>
            </a:r>
            <a:r>
              <a:rPr lang="en-US" dirty="0"/>
              <a:t>Q = D</a:t>
            </a:r>
          </a:p>
          <a:p>
            <a:r>
              <a:rPr lang="ru-RU" dirty="0"/>
              <a:t>При </a:t>
            </a:r>
            <a:r>
              <a:rPr lang="en-US" dirty="0"/>
              <a:t>LE = 0 Q</a:t>
            </a:r>
            <a:r>
              <a:rPr lang="ru-RU" dirty="0"/>
              <a:t> не зависит от текущего </a:t>
            </a:r>
            <a:r>
              <a:rPr lang="en-US" dirty="0"/>
              <a:t>D</a:t>
            </a:r>
            <a:r>
              <a:rPr lang="ru-RU" dirty="0"/>
              <a:t>, сохраняется последнее значение, которому соответствовал </a:t>
            </a:r>
            <a:r>
              <a:rPr lang="en-US" dirty="0"/>
              <a:t>LE =1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8862" y="1485578"/>
            <a:ext cx="619268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12099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Реализация функции </a:t>
            </a:r>
            <a:r>
              <a:rPr lang="en-US" dirty="0"/>
              <a:t>converter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598" y="1917626"/>
            <a:ext cx="10971372" cy="403244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ru-RU" dirty="0"/>
              <a:t>с</a:t>
            </a:r>
            <a:r>
              <a:rPr lang="en-US" dirty="0" err="1"/>
              <a:t>har</a:t>
            </a:r>
            <a:r>
              <a:rPr lang="en-US" dirty="0"/>
              <a:t> converter</a:t>
            </a:r>
            <a:r>
              <a:rPr lang="ru-RU" dirty="0"/>
              <a:t> (</a:t>
            </a:r>
            <a:r>
              <a:rPr lang="en-US" dirty="0"/>
              <a:t>unsigned </a:t>
            </a:r>
            <a:r>
              <a:rPr lang="en-US" dirty="0" err="1"/>
              <a:t>int</a:t>
            </a:r>
            <a:r>
              <a:rPr lang="en-US" dirty="0"/>
              <a:t> a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функция, преобразующая число в код для </a:t>
            </a:r>
            <a:r>
              <a:rPr lang="ru-RU" dirty="0" err="1"/>
              <a:t>семисегментного</a:t>
            </a:r>
            <a:r>
              <a:rPr lang="ru-RU" dirty="0"/>
              <a:t> индикатора</a:t>
            </a:r>
            <a:endParaRPr lang="en-US" dirty="0"/>
          </a:p>
          <a:p>
            <a:pPr lvl="0"/>
            <a:r>
              <a:rPr lang="en-US" dirty="0"/>
              <a:t>a – </a:t>
            </a:r>
            <a:r>
              <a:rPr lang="ru-RU" dirty="0" err="1"/>
              <a:t>беззнаковое</a:t>
            </a:r>
            <a:r>
              <a:rPr lang="ru-RU" dirty="0"/>
              <a:t> число от 0 до 15</a:t>
            </a:r>
          </a:p>
          <a:p>
            <a:pPr lvl="0"/>
            <a:r>
              <a:rPr lang="ru-RU" dirty="0"/>
              <a:t>Возвращаемое значение: 8-битный код для отображения числа на </a:t>
            </a:r>
            <a:r>
              <a:rPr lang="ru-RU" dirty="0" err="1"/>
              <a:t>семисегментном</a:t>
            </a:r>
            <a:r>
              <a:rPr lang="ru-RU" dirty="0"/>
              <a:t> индикаторе в виде </a:t>
            </a:r>
            <a:r>
              <a:rPr lang="en-US" dirty="0" err="1"/>
              <a:t>abcdefgdp</a:t>
            </a:r>
            <a:r>
              <a:rPr lang="en-US" dirty="0"/>
              <a:t>, </a:t>
            </a:r>
            <a:r>
              <a:rPr lang="ru-RU" dirty="0"/>
              <a:t>где </a:t>
            </a:r>
            <a:r>
              <a:rPr lang="en-US" dirty="0"/>
              <a:t>a – </a:t>
            </a:r>
            <a:r>
              <a:rPr lang="ru-RU" dirty="0"/>
              <a:t>младший бит.</a:t>
            </a:r>
            <a:endParaRPr lang="en-US" dirty="0"/>
          </a:p>
          <a:p>
            <a:pPr lvl="0"/>
            <a:r>
              <a:rPr lang="ru-RU" dirty="0"/>
              <a:t>Для поджигания сегмента необходимо установить соответствующий бит в единицу.</a:t>
            </a:r>
            <a:endParaRPr lang="en-US" dirty="0"/>
          </a:p>
          <a:p>
            <a:pPr marL="130621" lv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751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Реализация функции </a:t>
            </a:r>
            <a:r>
              <a:rPr lang="en-US" dirty="0" err="1"/>
              <a:t>out_to_reg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21" y="1629595"/>
            <a:ext cx="10971372" cy="4946464"/>
          </a:xfrm>
        </p:spPr>
        <p:txBody>
          <a:bodyPr/>
          <a:lstStyle/>
          <a:p>
            <a:r>
              <a:rPr lang="en-US" sz="3600" dirty="0"/>
              <a:t>void </a:t>
            </a:r>
            <a:r>
              <a:rPr lang="en-US" sz="3600" dirty="0" err="1"/>
              <a:t>out_to_reg</a:t>
            </a:r>
            <a:r>
              <a:rPr lang="en-US" sz="3600" dirty="0"/>
              <a:t>(char a, </a:t>
            </a:r>
            <a:r>
              <a:rPr lang="en-US" sz="3600" dirty="0" err="1"/>
              <a:t>int</a:t>
            </a:r>
            <a:r>
              <a:rPr lang="en-US" sz="3600" dirty="0"/>
              <a:t> </a:t>
            </a:r>
            <a:r>
              <a:rPr lang="en-US" sz="3600" dirty="0" err="1"/>
              <a:t>dest</a:t>
            </a:r>
            <a:r>
              <a:rPr lang="en-US" sz="3600" dirty="0"/>
              <a:t>, char le)</a:t>
            </a:r>
            <a:r>
              <a:rPr lang="ru-RU" sz="3600" dirty="0"/>
              <a:t> – функция, передающая</a:t>
            </a:r>
            <a:r>
              <a:rPr lang="en-US" sz="3600" dirty="0"/>
              <a:t> </a:t>
            </a:r>
            <a:r>
              <a:rPr lang="ru-RU" sz="3600" dirty="0"/>
              <a:t>байт в </a:t>
            </a:r>
            <a:r>
              <a:rPr lang="en-US" sz="3600" dirty="0"/>
              <a:t>D-</a:t>
            </a:r>
            <a:r>
              <a:rPr lang="ru-RU" sz="3600" dirty="0"/>
              <a:t>защелки</a:t>
            </a:r>
          </a:p>
          <a:p>
            <a:r>
              <a:rPr lang="en-US" sz="3600" dirty="0"/>
              <a:t>a – </a:t>
            </a:r>
            <a:r>
              <a:rPr lang="ru-RU" sz="3600" dirty="0"/>
              <a:t>данные для передачи</a:t>
            </a:r>
            <a:endParaRPr lang="ru-RU" dirty="0"/>
          </a:p>
          <a:p>
            <a:r>
              <a:rPr lang="en-US" sz="3600" dirty="0" err="1"/>
              <a:t>dest</a:t>
            </a:r>
            <a:r>
              <a:rPr lang="en-US" sz="3600" dirty="0"/>
              <a:t> – </a:t>
            </a:r>
            <a:r>
              <a:rPr lang="ru-RU" sz="3600" dirty="0"/>
              <a:t>выбор порта (0 – </a:t>
            </a:r>
            <a:r>
              <a:rPr lang="en-US" sz="3600" dirty="0"/>
              <a:t>A (</a:t>
            </a:r>
            <a:r>
              <a:rPr lang="ru-RU" sz="3600" dirty="0"/>
              <a:t>разряды)</a:t>
            </a:r>
            <a:r>
              <a:rPr lang="en-US" sz="3600" dirty="0"/>
              <a:t>, 1 – C</a:t>
            </a:r>
            <a:r>
              <a:rPr lang="ru-RU" sz="3600" dirty="0"/>
              <a:t>(сегменты))</a:t>
            </a:r>
          </a:p>
          <a:p>
            <a:r>
              <a:rPr lang="en-US" sz="3600" dirty="0"/>
              <a:t>le – </a:t>
            </a:r>
            <a:r>
              <a:rPr lang="ru-RU" sz="3600" dirty="0"/>
              <a:t>сигнал защелки (0 – данные фиксируются на выходе триггера, 1 – данные дублируются в реальном времени)</a:t>
            </a:r>
          </a:p>
        </p:txBody>
      </p:sp>
    </p:spTree>
    <p:extLst>
      <p:ext uri="{BB962C8B-B14F-4D97-AF65-F5344CB8AC3E}">
        <p14:creationId xmlns:p14="http://schemas.microsoft.com/office/powerpoint/2010/main" val="1604799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Компиляция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0590" y="4869954"/>
            <a:ext cx="10971372" cy="1755913"/>
          </a:xfrm>
        </p:spPr>
        <p:txBody>
          <a:bodyPr/>
          <a:lstStyle/>
          <a:p>
            <a:r>
              <a:rPr lang="ru-RU" dirty="0"/>
              <a:t>Нажмите </a:t>
            </a:r>
            <a:r>
              <a:rPr lang="en-US" dirty="0"/>
              <a:t>build-&gt;Build Solution</a:t>
            </a:r>
          </a:p>
          <a:p>
            <a:r>
              <a:rPr lang="ru-RU" dirty="0"/>
              <a:t>В случае успешной компиляции в файлах проекта в папке </a:t>
            </a:r>
            <a:r>
              <a:rPr lang="en-US" dirty="0"/>
              <a:t>Debug </a:t>
            </a:r>
            <a:r>
              <a:rPr lang="ru-RU" dirty="0"/>
              <a:t>вы найдете </a:t>
            </a:r>
            <a:r>
              <a:rPr lang="en-US" dirty="0"/>
              <a:t>.hex </a:t>
            </a:r>
            <a:r>
              <a:rPr lang="ru-RU" dirty="0"/>
              <a:t>файл вашей прошивки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108" y="1773610"/>
            <a:ext cx="6776864" cy="30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4512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Запуск в </a:t>
            </a:r>
            <a:r>
              <a:rPr lang="en-US" dirty="0"/>
              <a:t>Proteus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21" y="1629595"/>
            <a:ext cx="6277773" cy="494646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Откройте </a:t>
            </a:r>
            <a:r>
              <a:rPr lang="en-US" dirty="0"/>
              <a:t>Proteus</a:t>
            </a:r>
          </a:p>
          <a:p>
            <a:r>
              <a:rPr lang="en-US" dirty="0"/>
              <a:t>File</a:t>
            </a:r>
            <a:r>
              <a:rPr lang="ru-RU" dirty="0"/>
              <a:t> </a:t>
            </a:r>
            <a:r>
              <a:rPr lang="en-US" dirty="0"/>
              <a:t>-&gt;</a:t>
            </a:r>
            <a:r>
              <a:rPr lang="ru-RU" dirty="0"/>
              <a:t> </a:t>
            </a:r>
            <a:r>
              <a:rPr lang="en-US" dirty="0"/>
              <a:t>Open Project -&gt; </a:t>
            </a:r>
            <a:r>
              <a:rPr lang="ru-RU" dirty="0"/>
              <a:t>выберите выданный проект</a:t>
            </a:r>
          </a:p>
          <a:p>
            <a:r>
              <a:rPr lang="ru-RU" dirty="0"/>
              <a:t>Два раза нажмите на блок </a:t>
            </a:r>
            <a:r>
              <a:rPr lang="en-US" dirty="0"/>
              <a:t>Atmega128</a:t>
            </a:r>
          </a:p>
          <a:p>
            <a:r>
              <a:rPr lang="ru-RU" dirty="0"/>
              <a:t>В поле </a:t>
            </a:r>
            <a:r>
              <a:rPr lang="en-US" dirty="0"/>
              <a:t>program file </a:t>
            </a:r>
            <a:r>
              <a:rPr lang="ru-RU" dirty="0"/>
              <a:t>выберите полученный вами .</a:t>
            </a:r>
            <a:r>
              <a:rPr lang="en-US" dirty="0"/>
              <a:t>hex </a:t>
            </a:r>
            <a:r>
              <a:rPr lang="ru-RU" dirty="0"/>
              <a:t>файл прошивки</a:t>
            </a:r>
          </a:p>
          <a:p>
            <a:r>
              <a:rPr lang="ru-RU" dirty="0"/>
              <a:t>В полк </a:t>
            </a:r>
            <a:r>
              <a:rPr lang="en-US" dirty="0"/>
              <a:t>CLKSEL Fuses </a:t>
            </a:r>
            <a:r>
              <a:rPr lang="ru-RU" dirty="0"/>
              <a:t>выбран источник тактового сигнала </a:t>
            </a:r>
            <a:r>
              <a:rPr lang="en-US" dirty="0"/>
              <a:t>Int. RC 8MHz (</a:t>
            </a:r>
            <a:r>
              <a:rPr lang="ru-RU" dirty="0"/>
              <a:t>внутренний осциллятор)</a:t>
            </a:r>
          </a:p>
          <a:p>
            <a:r>
              <a:rPr lang="ru-RU" dirty="0"/>
              <a:t>Нажмите ОК</a:t>
            </a:r>
          </a:p>
          <a:p>
            <a:r>
              <a:rPr lang="ru-RU" dirty="0"/>
              <a:t>Внизу главного окна нажмите </a:t>
            </a:r>
            <a:r>
              <a:rPr lang="en-US" dirty="0"/>
              <a:t>Play</a:t>
            </a: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326" y="1341562"/>
            <a:ext cx="4744320" cy="458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3251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621482"/>
            <a:ext cx="10971372" cy="1067047"/>
          </a:xfrm>
        </p:spPr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0590" y="1701602"/>
            <a:ext cx="11043380" cy="4896544"/>
          </a:xfrm>
        </p:spPr>
        <p:txBody>
          <a:bodyPr/>
          <a:lstStyle/>
          <a:p>
            <a:r>
              <a:rPr lang="ru-RU" dirty="0"/>
              <a:t>1. Вывести на все индикаторы одинаковое значение</a:t>
            </a:r>
          </a:p>
          <a:p>
            <a:r>
              <a:rPr lang="ru-RU" dirty="0"/>
              <a:t>2. Вывести одинаковое значение на каждый индикатор последовательно (от младшего к старшему или наоборот)</a:t>
            </a:r>
          </a:p>
          <a:p>
            <a:r>
              <a:rPr lang="ru-RU" dirty="0"/>
              <a:t>3. Вывести последовательно на каждый индикатор разряды выданного вам числа</a:t>
            </a:r>
          </a:p>
          <a:p>
            <a:r>
              <a:rPr lang="ru-RU" dirty="0"/>
              <a:t>4. Подобрать длительность вывода на индикатор и скорость смены индикаторов так, чтобы картинка казалась примерно статичной</a:t>
            </a:r>
          </a:p>
        </p:txBody>
      </p:sp>
    </p:spTree>
    <p:extLst>
      <p:ext uri="{BB962C8B-B14F-4D97-AF65-F5344CB8AC3E}">
        <p14:creationId xmlns:p14="http://schemas.microsoft.com/office/powerpoint/2010/main" val="875551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598" y="549474"/>
            <a:ext cx="10971372" cy="1067047"/>
          </a:xfrm>
        </p:spPr>
        <p:txBody>
          <a:bodyPr/>
          <a:lstStyle/>
          <a:p>
            <a:r>
              <a:rPr lang="ru-RU" dirty="0"/>
              <a:t>Дополнительно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21" y="1557587"/>
            <a:ext cx="10971372" cy="5018472"/>
          </a:xfrm>
        </p:spPr>
        <p:txBody>
          <a:bodyPr/>
          <a:lstStyle/>
          <a:p>
            <a:r>
              <a:rPr lang="ru-RU" dirty="0"/>
              <a:t>Вы можете использовать функции </a:t>
            </a:r>
            <a:r>
              <a:rPr lang="en-US" dirty="0"/>
              <a:t>delay. </a:t>
            </a:r>
            <a:r>
              <a:rPr lang="ru-RU" dirty="0"/>
              <a:t>Для этого подключите заголовочный файл </a:t>
            </a:r>
            <a:r>
              <a:rPr lang="en-US" dirty="0"/>
              <a:t>&lt;</a:t>
            </a:r>
            <a:r>
              <a:rPr lang="en-US" dirty="0" err="1"/>
              <a:t>util</a:t>
            </a:r>
            <a:r>
              <a:rPr lang="en-US" dirty="0"/>
              <a:t>/</a:t>
            </a:r>
            <a:r>
              <a:rPr lang="en-US" dirty="0" err="1"/>
              <a:t>delay.h</a:t>
            </a:r>
            <a:r>
              <a:rPr lang="en-US" dirty="0"/>
              <a:t>&gt;</a:t>
            </a:r>
            <a:endParaRPr lang="ru-RU" dirty="0"/>
          </a:p>
          <a:p>
            <a:r>
              <a:rPr lang="ru-RU" dirty="0"/>
              <a:t>Директива </a:t>
            </a:r>
            <a:r>
              <a:rPr lang="en-US" dirty="0"/>
              <a:t>#define F_CPU 8000000 </a:t>
            </a:r>
            <a:r>
              <a:rPr lang="ru-RU" dirty="0"/>
              <a:t>определяет частоту процессора, на которую опираются функции </a:t>
            </a:r>
            <a:r>
              <a:rPr lang="en-US" dirty="0"/>
              <a:t>delay</a:t>
            </a:r>
            <a:r>
              <a:rPr lang="ru-RU" dirty="0"/>
              <a:t>. Сделайте ее равной частоте МК в </a:t>
            </a:r>
            <a:r>
              <a:rPr lang="en-US" dirty="0"/>
              <a:t>Proteus</a:t>
            </a:r>
          </a:p>
          <a:p>
            <a:r>
              <a:rPr lang="ru-RU" dirty="0"/>
              <a:t>Альтернативно, вместо </a:t>
            </a:r>
            <a:r>
              <a:rPr lang="en-US" dirty="0"/>
              <a:t>delay </a:t>
            </a:r>
            <a:r>
              <a:rPr lang="ru-RU" dirty="0"/>
              <a:t>можете использовать циклы </a:t>
            </a:r>
            <a:r>
              <a:rPr lang="en-US" dirty="0"/>
              <a:t>for </a:t>
            </a:r>
            <a:r>
              <a:rPr lang="ru-RU" dirty="0"/>
              <a:t>с расчетом, что одна итерация занимает около 4х тактов.</a:t>
            </a:r>
          </a:p>
        </p:txBody>
      </p:sp>
    </p:spTree>
    <p:extLst>
      <p:ext uri="{BB962C8B-B14F-4D97-AF65-F5344CB8AC3E}">
        <p14:creationId xmlns:p14="http://schemas.microsoft.com/office/powerpoint/2010/main" val="370751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161</TotalTime>
  <Words>1293</Words>
  <Application>Microsoft Office PowerPoint</Application>
  <PresentationFormat>Произвольный</PresentationFormat>
  <Paragraphs>169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Georgia</vt:lpstr>
      <vt:lpstr>Times New Roman</vt:lpstr>
      <vt:lpstr>Trebuchet MS</vt:lpstr>
      <vt:lpstr>Wingdings 2</vt:lpstr>
      <vt:lpstr>Городская</vt:lpstr>
      <vt:lpstr>Лабораторная работа 1</vt:lpstr>
      <vt:lpstr>Микроконтроллер (МК)</vt:lpstr>
      <vt:lpstr>Регистры</vt:lpstr>
      <vt:lpstr>Интерфейс ввода-вывода общего назначения (GPIO)</vt:lpstr>
      <vt:lpstr>Регистры управления GPIO</vt:lpstr>
      <vt:lpstr>Создание проекта в Microchip Studio</vt:lpstr>
      <vt:lpstr>main.c</vt:lpstr>
      <vt:lpstr>Основные принципы программирования микроконтроллеров</vt:lpstr>
      <vt:lpstr>Основные принципы программирования микроконтроллеров</vt:lpstr>
      <vt:lpstr>Основные принципы программирования микроконтроллеров</vt:lpstr>
      <vt:lpstr>Основные принципы программирования микроконтроллеров</vt:lpstr>
      <vt:lpstr>Тестовый стенд</vt:lpstr>
      <vt:lpstr>Вывод данных с помощью семи сегментных индикаторов</vt:lpstr>
      <vt:lpstr>Микросхема 74HC573</vt:lpstr>
      <vt:lpstr>Реализация функции converter</vt:lpstr>
      <vt:lpstr>Реализация функции out_to_reg</vt:lpstr>
      <vt:lpstr>Компиляция проекта</vt:lpstr>
      <vt:lpstr>Запуск в Proteus</vt:lpstr>
      <vt:lpstr>Задачи</vt:lpstr>
      <vt:lpstr>Дополнительно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Д</dc:creator>
  <cp:lastModifiedBy>Егор Д</cp:lastModifiedBy>
  <cp:revision>34</cp:revision>
  <dcterms:created xsi:type="dcterms:W3CDTF">2026-10-05T19:41:45Z</dcterms:created>
  <dcterms:modified xsi:type="dcterms:W3CDTF">2026-10-05T22:43:23Z</dcterms:modified>
</cp:coreProperties>
</file>